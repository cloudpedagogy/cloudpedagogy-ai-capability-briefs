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 snapToObjects="1">
      <p:cViewPr varScale="1">
        <p:scale>
          <a:sx n="117" d="100"/>
          <a:sy n="117" d="100"/>
        </p:scale>
        <p:origin x="148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Using the AI Capability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dirty="0"/>
              <a:t>An orientation guide for responsible interpretation and use</a:t>
            </a:r>
          </a:p>
          <a:p>
            <a:endParaRPr dirty="0"/>
          </a:p>
          <a:p>
            <a:r>
              <a:rPr dirty="0"/>
              <a:t>Designed to prevent misuse, misinterpretation, and checklist thinking</a:t>
            </a:r>
          </a:p>
          <a:p>
            <a:endParaRPr dirty="0"/>
          </a:p>
          <a:p>
            <a:r>
              <a:rPr dirty="0" err="1"/>
              <a:t>CloudPedagogy</a:t>
            </a:r>
            <a:r>
              <a:rPr dirty="0"/>
              <a:t> · CC BY-NC-SA · 2026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Orientation Guide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Frameworks are often misunderstood or misused</a:t>
            </a:r>
          </a:p>
          <a:p>
            <a:pPr lvl="1"/>
            <a:r>
              <a:t>AI capability cannot be reduced to scores or maturity levels</a:t>
            </a:r>
          </a:p>
          <a:p>
            <a:pPr lvl="1"/>
            <a:r>
              <a:t>Over-simplification creates false confidence and risk</a:t>
            </a:r>
          </a:p>
          <a:p>
            <a:pPr lvl="1"/>
            <a:r>
              <a:t>This guide supports thoughtful, context-sensitive 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the AI Capability Framework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structured way of thinking about AI use in professional contexts</a:t>
            </a:r>
          </a:p>
          <a:p>
            <a:pPr lvl="1"/>
            <a:r>
              <a:rPr dirty="0"/>
              <a:t>Focused on judgement, responsibility, and accountability</a:t>
            </a:r>
          </a:p>
          <a:p>
            <a:pPr lvl="1"/>
            <a:r>
              <a:rPr dirty="0"/>
              <a:t>Designed for education, research, and public service</a:t>
            </a:r>
          </a:p>
          <a:p>
            <a:pPr lvl="1"/>
            <a:r>
              <a:rPr dirty="0"/>
              <a:t>Applicable across tools, roles, and institutions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AI Capability Framework Is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a checklist or compliance tool</a:t>
            </a:r>
          </a:p>
          <a:p>
            <a:pPr lvl="1"/>
            <a:r>
              <a:t>Not a maturity model or ranking system</a:t>
            </a:r>
          </a:p>
          <a:p>
            <a:pPr lvl="1"/>
            <a:r>
              <a:t>Not a technical specification</a:t>
            </a:r>
          </a:p>
          <a:p>
            <a:pPr lvl="1"/>
            <a:r>
              <a:t>Not a substitute for professional judgement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Six Domains as an Integrated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domain supports and constrains the others</a:t>
            </a:r>
          </a:p>
          <a:p>
            <a:pPr lvl="1"/>
            <a:r>
              <a:t>Strength in one area cannot compensate for weakness in another</a:t>
            </a:r>
          </a:p>
          <a:p>
            <a:pPr lvl="1"/>
            <a:r>
              <a:t>Ethics, governance, and reflection are core, not optional</a:t>
            </a:r>
          </a:p>
          <a:p>
            <a:pPr lvl="1"/>
            <a:r>
              <a:t>The framework should be used holistically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Misuses to Avoid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Treating domains as a linear progression</a:t>
            </a:r>
          </a:p>
          <a:p>
            <a:pPr lvl="1"/>
            <a:r>
              <a:t>Using scores as performance measures</a:t>
            </a:r>
          </a:p>
          <a:p>
            <a:pPr lvl="1"/>
            <a:r>
              <a:t>Applying the framework without context</a:t>
            </a:r>
          </a:p>
          <a:p>
            <a:pPr lvl="1"/>
            <a:r>
              <a:t>Ignoring ethical or governance dimensions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Appropriate Ways to Use the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reflection and discussion</a:t>
            </a:r>
          </a:p>
          <a:p>
            <a:pPr lvl="1"/>
            <a:r>
              <a:t>Curriculum, assessment, and workflow design</a:t>
            </a:r>
          </a:p>
          <a:p>
            <a:pPr lvl="1"/>
            <a:r>
              <a:t>Policy and governance conversations</a:t>
            </a:r>
          </a:p>
          <a:p>
            <a:pPr lvl="1"/>
            <a:r>
              <a:t>Identifying risks, gaps, and priorities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the Framework at Different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Individual reflection and professional development</a:t>
            </a:r>
          </a:p>
          <a:p>
            <a:pPr lvl="1"/>
            <a:r>
              <a:t>Team-based sense-making and alignment</a:t>
            </a:r>
          </a:p>
          <a:p>
            <a:pPr lvl="1"/>
            <a:r>
              <a:t>Institutional design, assurance, and strategy</a:t>
            </a:r>
          </a:p>
          <a:p>
            <a:pPr lvl="1"/>
            <a:r>
              <a:t>Shared language across roles and functions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Adapting the Framework Responsibly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adaptation is encouraged</a:t>
            </a:r>
          </a:p>
          <a:p>
            <a:pPr lvl="1"/>
            <a:r>
              <a:t>Changes should preserve core principles</a:t>
            </a:r>
          </a:p>
          <a:p>
            <a:pPr lvl="1"/>
            <a:r>
              <a:t>Be explicit about assumptions and context</a:t>
            </a:r>
          </a:p>
          <a:p>
            <a:pPr lvl="1"/>
            <a:r>
              <a:t>Avoid removing ethics, governance, or reflection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Relationship to Policy, Tools, and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framework complements, not replaces, policy</a:t>
            </a:r>
          </a:p>
          <a:p>
            <a:pPr lvl="1"/>
            <a:r>
              <a:rPr dirty="0"/>
              <a:t>It helps interpret guidance in real situations</a:t>
            </a:r>
          </a:p>
          <a:p>
            <a:pPr lvl="1"/>
            <a:r>
              <a:rPr dirty="0"/>
              <a:t>It is tool-agnostic by design</a:t>
            </a:r>
          </a:p>
          <a:p>
            <a:pPr lvl="1"/>
            <a:r>
              <a:rPr dirty="0"/>
              <a:t>It supports defensible decision-making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When to Use the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AI use raises questions or uncertainty</a:t>
            </a:r>
          </a:p>
          <a:p>
            <a:pPr lvl="1"/>
            <a:r>
              <a:t>When decisions carry ethical or reputational risk</a:t>
            </a:r>
          </a:p>
          <a:p>
            <a:pPr lvl="1"/>
            <a:r>
              <a:t>When practices vary across teams or departments</a:t>
            </a:r>
          </a:p>
          <a:p>
            <a:pPr lvl="1"/>
            <a:r>
              <a:t>When existing guidance feels insufficient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Reuse and Attribution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orientation guide is designed to support responsible use</a:t>
            </a:r>
          </a:p>
          <a:p>
            <a:pPr lvl="1"/>
            <a:r>
              <a:t>You are encouraged to adapt it for local contexts</a:t>
            </a:r>
          </a:p>
          <a:p>
            <a:pPr lvl="1"/>
            <a:r>
              <a:t>Please attribute CloudPedagogy and the AI Capability Framework</a:t>
            </a:r>
          </a:p>
          <a:p>
            <a:pPr lvl="1"/>
            <a:r>
              <a:t>Licensed under Creative Commons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383</Words>
  <Application>Microsoft Macintosh PowerPoint</Application>
  <PresentationFormat>On-screen Show (4:3)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Using the AI Capability Framework</vt:lpstr>
      <vt:lpstr>Why This Orientation Guide Exists</vt:lpstr>
      <vt:lpstr>What the AI Capability Framework Is</vt:lpstr>
      <vt:lpstr>What the AI Capability Framework Is Not</vt:lpstr>
      <vt:lpstr>The Six Domains as an Integrated System</vt:lpstr>
      <vt:lpstr>Common Misuses to Avoid</vt:lpstr>
      <vt:lpstr>Appropriate Ways to Use the Framework</vt:lpstr>
      <vt:lpstr>Using the Framework at Different Levels</vt:lpstr>
      <vt:lpstr>Adapting the Framework Responsibly</vt:lpstr>
      <vt:lpstr>Relationship to Policy, Tools, and Guidance</vt:lpstr>
      <vt:lpstr>When to Use the Framework</vt:lpstr>
      <vt:lpstr>Reuse and Attribution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Jon Wong</cp:lastModifiedBy>
  <cp:revision>3</cp:revision>
  <dcterms:created xsi:type="dcterms:W3CDTF">2013-01-27T09:14:16Z</dcterms:created>
  <dcterms:modified xsi:type="dcterms:W3CDTF">2025-12-28T13:50:02Z</dcterms:modified>
  <cp:category/>
</cp:coreProperties>
</file>