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Capability for Teaching, Assessment &amp; Integrity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Designing assessment, guidance, and learning for the AI era</a:t>
            </a:r>
          </a:p>
          <a:p/>
          <a:p>
            <a:r>
              <a:t>For education and higher education contexts</a:t>
            </a:r>
          </a:p>
          <a:p/>
          <a:p>
            <a:r>
              <a:t>CloudPedagogy · CC BY-NC-SA · 2026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Teaching, Assessment &amp; Integrity Feel Hard Right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challenges traditional assumptions about student work</a:t>
            </a:r>
          </a:p>
          <a:p>
            <a:pPr lvl="1"/>
            <a:r>
              <a:t>Staff are under pressure to respond quickly and consistently</a:t>
            </a:r>
          </a:p>
          <a:p>
            <a:pPr lvl="1"/>
            <a:r>
              <a:t>Policy often lags behind practice</a:t>
            </a:r>
          </a:p>
          <a:p>
            <a:pPr lvl="1"/>
            <a:r>
              <a:t>Fear and uncertainty can lead to restrictive or misaligned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Policing AI to Designing With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Bans and detection tools provide limited assurance</a:t>
            </a:r>
          </a:p>
          <a:p>
            <a:pPr lvl="1"/>
            <a:r>
              <a:t>Students are already using AI in diverse ways</a:t>
            </a:r>
          </a:p>
          <a:p>
            <a:pPr lvl="1"/>
            <a:r>
              <a:t>Good design reduces misconduct more effectively than enforcement</a:t>
            </a:r>
          </a:p>
          <a:p>
            <a:pPr lvl="1"/>
            <a:r>
              <a:t>Capability-based approaches support learning and integrity together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Reframing Academic Integrity in the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Integrity is about values, not just compliance</a:t>
            </a:r>
          </a:p>
          <a:p>
            <a:pPr lvl="1"/>
            <a:r>
              <a:t>AI use must be made explicit and discussable</a:t>
            </a:r>
          </a:p>
          <a:p>
            <a:pPr lvl="1"/>
            <a:r>
              <a:t>Clear guidance supports both staff and students</a:t>
            </a:r>
          </a:p>
          <a:p>
            <a:pPr lvl="1"/>
            <a:r>
              <a:t>Legitimacy comes from transparency and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Capability Framework (Teaching &amp; Assessment Lens)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for designing responsible AI use in learning</a:t>
            </a:r>
          </a:p>
          <a:p>
            <a:pPr lvl="1"/>
            <a:r>
              <a:t>Six interconnected domains</a:t>
            </a:r>
          </a:p>
          <a:p>
            <a:pPr lvl="1"/>
            <a:r>
              <a:t>Supports consistency across modules and programmes</a:t>
            </a:r>
          </a:p>
          <a:p>
            <a:pPr lvl="1"/>
            <a:r>
              <a:t>Aligns pedagogy, assessment, and integrity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Awareness &amp; Orientation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Helping staff and students understand AI capabilities and limits</a:t>
            </a:r>
          </a:p>
          <a:p>
            <a:pPr lvl="1"/>
            <a:r>
              <a:t>Clarifying appropriate and inappropriate uses</a:t>
            </a:r>
          </a:p>
          <a:p>
            <a:pPr lvl="1"/>
            <a:r>
              <a:t>Developing shared expectations</a:t>
            </a:r>
          </a:p>
          <a:p>
            <a:pPr lvl="1"/>
            <a:r>
              <a:t>Reducing confusion and misinformation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Human–AI Co-Agency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Clarifying what students are responsible for</a:t>
            </a:r>
          </a:p>
          <a:p>
            <a:pPr lvl="1"/>
            <a:r>
              <a:t>Designing tasks that require human judgement</a:t>
            </a:r>
          </a:p>
          <a:p>
            <a:pPr lvl="1"/>
            <a:r>
              <a:t>Making AI contribution visible</a:t>
            </a:r>
          </a:p>
          <a:p>
            <a:pPr lvl="1"/>
            <a:r>
              <a:t>Avoiding over-reliance or substitution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Applied Practice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Redesigning assessments for authenticity</a:t>
            </a:r>
          </a:p>
          <a:p>
            <a:pPr lvl="1"/>
            <a:r>
              <a:t>Using AI to support learning processes</a:t>
            </a:r>
          </a:p>
          <a:p>
            <a:pPr lvl="1"/>
            <a:r>
              <a:t>Experimenting safely with new task types</a:t>
            </a:r>
          </a:p>
          <a:p>
            <a:pPr lvl="1"/>
            <a:r>
              <a:t>Sharing effective practice across teams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Ethics, Equity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Considering access, inclusion, and fairness</a:t>
            </a:r>
          </a:p>
          <a:p>
            <a:pPr lvl="1"/>
            <a:r>
              <a:t>Avoiding disadvantage to particular groups</a:t>
            </a:r>
          </a:p>
          <a:p>
            <a:pPr lvl="1"/>
            <a:r>
              <a:t>Supporting diverse learning needs</a:t>
            </a:r>
          </a:p>
          <a:p>
            <a:pPr lvl="1"/>
            <a:r>
              <a:t>Aligning assessment with institutional values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Decision-Making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Consistent guidance across modules and programmes</a:t>
            </a:r>
          </a:p>
          <a:p>
            <a:pPr lvl="1"/>
            <a:r>
              <a:t>Alignment with regulations and policies</a:t>
            </a:r>
          </a:p>
          <a:p>
            <a:pPr lvl="1"/>
            <a:r>
              <a:t>Clear escalation routes for concerns</a:t>
            </a:r>
          </a:p>
          <a:p>
            <a:pPr lvl="1"/>
            <a:r>
              <a:t>Defensible assessment design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Reflection, Learning &amp; Renewal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Reviewing assessment effectiveness over time</a:t>
            </a:r>
          </a:p>
          <a:p>
            <a:pPr lvl="1"/>
            <a:r>
              <a:t>Learning from student feedback</a:t>
            </a:r>
          </a:p>
          <a:p>
            <a:pPr lvl="1"/>
            <a:r>
              <a:t>Updating guidance as AI evolves</a:t>
            </a:r>
          </a:p>
          <a:p>
            <a:pPr lvl="1"/>
            <a:r>
              <a:t>Building staff confidence and capability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Assessments That Hold Up in the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judgement, context, and decision-making</a:t>
            </a:r>
          </a:p>
          <a:p>
            <a:pPr lvl="1"/>
            <a:r>
              <a:t>Use process, reflection, and justification</a:t>
            </a:r>
          </a:p>
          <a:p>
            <a:pPr lvl="1"/>
            <a:r>
              <a:t>Make AI use explicit rather than hidden</a:t>
            </a:r>
          </a:p>
          <a:p>
            <a:pPr lvl="1"/>
            <a:r>
              <a:t>Align tasks with real-world practice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Staff and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Clear, shared guidance on AI use</a:t>
            </a:r>
          </a:p>
          <a:p>
            <a:pPr lvl="1"/>
            <a:r>
              <a:t>Professional development for educators</a:t>
            </a:r>
          </a:p>
          <a:p>
            <a:pPr lvl="1"/>
            <a:r>
              <a:t>Transparent communication with students</a:t>
            </a:r>
          </a:p>
          <a:p>
            <a:pPr lvl="1"/>
            <a:r>
              <a:t>Reducing anxiety through design clarity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the Framework in Teaching Contexts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Curriculum and module design workshops</a:t>
            </a:r>
          </a:p>
          <a:p>
            <a:pPr lvl="1"/>
            <a:r>
              <a:t>Assessment redesign sessions</a:t>
            </a:r>
          </a:p>
          <a:p>
            <a:pPr lvl="1"/>
            <a:r>
              <a:t>Academic integrity discussions</a:t>
            </a:r>
          </a:p>
          <a:p>
            <a:pPr lvl="1"/>
            <a:r>
              <a:t>Faculty development and CPD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Questions for Educators to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does legitimate AI use look like in this task?</a:t>
            </a:r>
          </a:p>
          <a:p>
            <a:pPr lvl="1"/>
            <a:r>
              <a:t>Where does human judgement matter most?</a:t>
            </a:r>
          </a:p>
          <a:p>
            <a:pPr lvl="1"/>
            <a:r>
              <a:t>How is integrity supported by design?</a:t>
            </a:r>
          </a:p>
          <a:p>
            <a:pPr lvl="1"/>
            <a:r>
              <a:t>How clear is our guidance to students?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Reuse and Adaptation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is designed for teaching and assessment discussions</a:t>
            </a:r>
          </a:p>
          <a:p>
            <a:pPr lvl="1"/>
            <a:r>
              <a:t>You are encouraged to adapt it for local contexts</a:t>
            </a:r>
          </a:p>
          <a:p>
            <a:pPr lvl="1"/>
            <a:r>
              <a:t>Please attribute CloudPedagogy and the AI Capability Framework</a:t>
            </a:r>
          </a:p>
          <a:p>
            <a:pPr lvl="1"/>
            <a:r>
              <a:t>Licensed under Creative Commons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