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Capability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Education, Research, and Public Service</a:t>
            </a:r>
          </a:p>
          <a:p/>
          <a:p>
            <a:r>
              <a:t>A framework for ethical, effective, and accountable use of AI</a:t>
            </a:r>
          </a:p>
          <a:p/>
          <a:p>
            <a:r>
              <a:t>CloudPedagogy · CC BY-NC-SA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Capability?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now embedded in everyday professional work</a:t>
            </a:r>
          </a:p>
          <a:p>
            <a:pPr lvl="1"/>
            <a:r>
              <a:t>Capability is more than tools, prompts, or efficiency gains</a:t>
            </a:r>
          </a:p>
          <a:p>
            <a:pPr lvl="1"/>
            <a:r>
              <a:t>Good AI use depends on judgement, context, and accountability</a:t>
            </a:r>
          </a:p>
          <a:p>
            <a:pPr lvl="1"/>
            <a:r>
              <a:t>Institutions need shared ways of thinking about AI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We Mean by AI Capability?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Durable ways of thinking, deciding, and acting with AI</a:t>
            </a:r>
          </a:p>
          <a:p>
            <a:pPr lvl="1"/>
            <a:r>
              <a:t>Applies across tools, roles, and technologies</a:t>
            </a:r>
          </a:p>
          <a:p>
            <a:pPr lvl="1"/>
            <a:r>
              <a:t>Grounded in ethics, governance, and professional responsibility</a:t>
            </a:r>
          </a:p>
          <a:p>
            <a:pPr lvl="1"/>
            <a:r>
              <a:t>Designed for real-world, high-stakes contexts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Capability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Six interconnected domains</a:t>
            </a:r>
          </a:p>
          <a:p>
            <a:pPr lvl="1"/>
            <a:r>
              <a:t>Designed as a system, not a checklist</a:t>
            </a:r>
          </a:p>
          <a:p>
            <a:pPr lvl="1"/>
            <a:r>
              <a:t>Each domain supports and constrains the others</a:t>
            </a:r>
          </a:p>
          <a:p>
            <a:pPr lvl="1"/>
            <a:r>
              <a:t>Weakness in one domain creates risk elsewhere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Awareness &amp;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AI systems work (at an appropriate level)</a:t>
            </a:r>
          </a:p>
          <a:p>
            <a:pPr lvl="1"/>
            <a:r>
              <a:t>Limits, uncertainty, and appropriate use</a:t>
            </a:r>
          </a:p>
          <a:p>
            <a:pPr lvl="1"/>
            <a:r>
              <a:t>Contextual understanding of AI in your field</a:t>
            </a:r>
          </a:p>
          <a:p>
            <a:pPr lvl="1"/>
            <a:r>
              <a:t>Signals of over-reliance or misuse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Human–AI Co‑Agency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role division between human and AI</a:t>
            </a:r>
          </a:p>
          <a:p>
            <a:pPr lvl="1"/>
            <a:r>
              <a:t>Maintaining human judgement and accountability</a:t>
            </a:r>
          </a:p>
          <a:p>
            <a:pPr lvl="1"/>
            <a:r>
              <a:t>Designing workflows with oversight and review</a:t>
            </a:r>
          </a:p>
          <a:p>
            <a:pPr lvl="1"/>
            <a:r>
              <a:t>Avoiding automation bias and abdication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Applied Practice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AI to support real tasks and workflows</a:t>
            </a:r>
          </a:p>
          <a:p>
            <a:pPr lvl="1"/>
            <a:r>
              <a:t>Iterative experimentation and improvement</a:t>
            </a:r>
          </a:p>
          <a:p>
            <a:pPr lvl="1"/>
            <a:r>
              <a:t>Adapting AI use to local constraints</a:t>
            </a:r>
          </a:p>
          <a:p>
            <a:pPr lvl="1"/>
            <a:r>
              <a:t>Sharing practice responsibly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Ethics, Equity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Anticipating ethical and social consequences</a:t>
            </a:r>
          </a:p>
          <a:p>
            <a:pPr lvl="1"/>
            <a:r>
              <a:t>Equity, inclusion, and accessibility considerations</a:t>
            </a:r>
          </a:p>
          <a:p>
            <a:pPr lvl="1"/>
            <a:r>
              <a:t>Avoiding harm, bias, and unintended effects</a:t>
            </a:r>
          </a:p>
          <a:p>
            <a:pPr lvl="1"/>
            <a:r>
              <a:t>Aligning AI use with institutional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Decision‑Making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decision ownership and escalation paths</a:t>
            </a:r>
          </a:p>
          <a:p>
            <a:pPr lvl="1"/>
            <a:r>
              <a:t>Policy, assurance, and quality processes</a:t>
            </a:r>
          </a:p>
          <a:p>
            <a:pPr lvl="1"/>
            <a:r>
              <a:t>Transparency and documentation of AI use</a:t>
            </a:r>
          </a:p>
          <a:p>
            <a:pPr lvl="1"/>
            <a:r>
              <a:t>Defensible decision-making in high-stakes contexts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Reflection, Learning &amp;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Ongoing evaluation of AI use</a:t>
            </a:r>
          </a:p>
          <a:p>
            <a:pPr lvl="1"/>
            <a:r>
              <a:t>Learning from success and failure</a:t>
            </a:r>
          </a:p>
          <a:p>
            <a:pPr lvl="1"/>
            <a:r>
              <a:t>Updating practices as tools and contexts change</a:t>
            </a:r>
          </a:p>
          <a:p>
            <a:pPr lvl="1"/>
            <a:r>
              <a:t>Building institutional memory and resilience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Reflecting on Your Current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are your strengths across the six domains?</a:t>
            </a:r>
          </a:p>
          <a:p>
            <a:pPr lvl="1"/>
            <a:r>
              <a:t>Where are the greatest uncertainties or risks?</a:t>
            </a:r>
          </a:p>
          <a:p>
            <a:pPr lvl="1"/>
            <a:r>
              <a:t>Which domains most affect your current decisions?</a:t>
            </a:r>
          </a:p>
          <a:p>
            <a:pPr lvl="1"/>
            <a:r>
              <a:t>What would improvement look like in practice?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Individual Practice to Institutional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use and judgement</a:t>
            </a:r>
          </a:p>
          <a:p>
            <a:pPr lvl="1"/>
            <a:r>
              <a:t>Team norms and shared practices</a:t>
            </a:r>
          </a:p>
          <a:p>
            <a:pPr lvl="1"/>
            <a:r>
              <a:t>Curriculum, workflows, and service design</a:t>
            </a:r>
          </a:p>
          <a:p>
            <a:pPr lvl="1"/>
            <a:r>
              <a:t>Governance, assurance, and accountability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Framework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reflection and development</a:t>
            </a:r>
          </a:p>
          <a:p>
            <a:pPr lvl="1"/>
            <a:r>
              <a:t>Curriculum and assessment design</a:t>
            </a:r>
          </a:p>
          <a:p>
            <a:pPr lvl="1"/>
            <a:r>
              <a:t>Research practice and guidance</a:t>
            </a:r>
          </a:p>
          <a:p>
            <a:pPr lvl="1"/>
            <a:r>
              <a:t>Policy, governance, and strategic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and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template is designed to be adapted for local use</a:t>
            </a:r>
          </a:p>
          <a:p>
            <a:pPr lvl="1"/>
            <a:r>
              <a:t>You are encouraged to modify content and examples</a:t>
            </a:r>
          </a:p>
          <a:p>
            <a:pPr lvl="1"/>
            <a:r>
              <a:t>Please attribute CloudPedagogy and the AI Capability Framework</a:t>
            </a:r>
          </a:p>
          <a:p>
            <a:pPr lvl="1"/>
            <a:r>
              <a:t>Licensed under Creative Commons CC BY‑NC‑SA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