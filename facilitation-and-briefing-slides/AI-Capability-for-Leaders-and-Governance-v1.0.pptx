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Capability for Leaders &amp; Governance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Decision-making, assurance, and strategy in the AI era</a:t>
            </a:r>
          </a:p>
          <a:p/>
          <a:p>
            <a:r>
              <a:t>For education, research, and public service</a:t>
            </a:r>
          </a:p>
          <a:p/>
          <a:p>
            <a:r>
              <a:t>CloudPedagogy · CC BY-NC-SA · 2026 Edition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AI Capability Is a Leadership Issue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is already shaping decisions across institutions</a:t>
            </a:r>
          </a:p>
          <a:p>
            <a:pPr lvl="1"/>
            <a:r>
              <a:t>Many AI risks are governance and assurance failures, not technical failures</a:t>
            </a:r>
          </a:p>
          <a:p>
            <a:pPr lvl="1"/>
            <a:r>
              <a:t>Leaders remain accountable even when systems are automated</a:t>
            </a:r>
          </a:p>
          <a:p>
            <a:pPr lvl="1"/>
            <a:r>
              <a:t>Institutions need shared decision frameworks, not ad hoc responses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 AI Tools to Institutional Judgement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capability is not about knowing specific tools</a:t>
            </a:r>
          </a:p>
          <a:p>
            <a:pPr lvl="1"/>
            <a:r>
              <a:t>It is about making defensible decisions under uncertainty</a:t>
            </a:r>
          </a:p>
          <a:p>
            <a:pPr lvl="1"/>
            <a:r>
              <a:t>Judgement, oversight, and accountability cannot be automated</a:t>
            </a:r>
          </a:p>
          <a:p>
            <a:pPr lvl="1"/>
            <a:r>
              <a:t>Leadership capability determines organisational outcomes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Governance and Assurance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Unclear ownership of AI-supported decisions</a:t>
            </a:r>
          </a:p>
          <a:p>
            <a:pPr lvl="1"/>
            <a:r>
              <a:t>Shadow AI use outside formal processes</a:t>
            </a:r>
          </a:p>
          <a:p>
            <a:pPr lvl="1"/>
            <a:r>
              <a:t>Inconsistent guidance across teams or faculties</a:t>
            </a:r>
          </a:p>
          <a:p>
            <a:pPr lvl="1"/>
            <a:r>
              <a:t>Ethical considerations addressed too late</a:t>
            </a:r>
          </a:p>
          <a:p>
            <a:pPr lvl="1"/>
            <a:r>
              <a:t>Over-reliance on vendor assurances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AI Capability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system for responsible, effective, and accountable AI use</a:t>
            </a:r>
          </a:p>
          <a:p>
            <a:pPr lvl="1"/>
            <a:r>
              <a:t>Six interconnected domains</a:t>
            </a:r>
          </a:p>
          <a:p>
            <a:pPr lvl="1"/>
            <a:r>
              <a:t>Designed for institutional contexts, not just individual use</a:t>
            </a:r>
          </a:p>
          <a:p>
            <a:pPr lvl="1"/>
            <a:r>
              <a:t>Supports assurance, consistency, and transparency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Awareness &amp; Orientation (Leadership Lens)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Understanding where and how AI is used institutionally</a:t>
            </a:r>
          </a:p>
          <a:p>
            <a:pPr lvl="1"/>
            <a:r>
              <a:t>Awareness of limitations, uncertainty, and risk</a:t>
            </a:r>
          </a:p>
          <a:p>
            <a:pPr lvl="1"/>
            <a:r>
              <a:t>Shared language for discussing AI at senior level</a:t>
            </a:r>
          </a:p>
          <a:p>
            <a:pPr lvl="1"/>
            <a:r>
              <a:t>Avoiding overconfidence and underestimation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Human–AI Co-Agency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Clear allocation of responsibility between humans and systems</a:t>
            </a:r>
          </a:p>
          <a:p>
            <a:pPr lvl="1"/>
            <a:r>
              <a:t>Maintaining human decision authority</a:t>
            </a:r>
          </a:p>
          <a:p>
            <a:pPr lvl="1"/>
            <a:r>
              <a:t>Designing oversight and review points</a:t>
            </a:r>
          </a:p>
          <a:p>
            <a:pPr lvl="1"/>
            <a:r>
              <a:t>Preventing automation bias at scale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Applied Practice &amp; Innovation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Supporting responsible experimentation</a:t>
            </a:r>
          </a:p>
          <a:p>
            <a:pPr lvl="1"/>
            <a:r>
              <a:t>Balancing innovation with assurance</a:t>
            </a:r>
          </a:p>
          <a:p>
            <a:pPr lvl="1"/>
            <a:r>
              <a:t>Scaling good practice without creating risk</a:t>
            </a:r>
          </a:p>
          <a:p>
            <a:pPr lvl="1"/>
            <a:r>
              <a:t>Learning from pilots and prototypes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Ethics, Equity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Anticipating ethical and societal implications</a:t>
            </a:r>
          </a:p>
          <a:p>
            <a:pPr lvl="1"/>
            <a:r>
              <a:t>Equity and inclusion as governance concerns</a:t>
            </a:r>
          </a:p>
          <a:p>
            <a:pPr lvl="1"/>
            <a:r>
              <a:t>Avoiding harm to students, staff, and communities</a:t>
            </a:r>
          </a:p>
          <a:p>
            <a:pPr lvl="1"/>
            <a:r>
              <a:t>Aligning AI use with institutional values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Decision-Making &amp; Governance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Clear decision pathways and escalation routes</a:t>
            </a:r>
          </a:p>
          <a:p>
            <a:pPr lvl="1"/>
            <a:r>
              <a:t>Policy, quality assurance, and audit alignment</a:t>
            </a:r>
          </a:p>
          <a:p>
            <a:pPr lvl="1"/>
            <a:r>
              <a:t>Documenting AI-supported decisions</a:t>
            </a:r>
          </a:p>
          <a:p>
            <a:pPr lvl="1"/>
            <a:r>
              <a:t>Defensibility in external scrutiny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Reflection, Learning &amp; Renewal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Reviewing AI use over time</a:t>
            </a:r>
          </a:p>
          <a:p>
            <a:pPr lvl="1"/>
            <a:r>
              <a:t>Learning from failures and near-misses</a:t>
            </a:r>
          </a:p>
          <a:p>
            <a:pPr lvl="1"/>
            <a:r>
              <a:t>Updating governance as technologies evolve</a:t>
            </a:r>
          </a:p>
          <a:p>
            <a:pPr lvl="1"/>
            <a:r>
              <a:t>Building institutional memory and resilience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Leaders Typically Intervene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Strategy and prioritisation</a:t>
            </a:r>
          </a:p>
          <a:p>
            <a:pPr lvl="1"/>
            <a:r>
              <a:t>Policy and governance design</a:t>
            </a:r>
          </a:p>
          <a:p>
            <a:pPr lvl="1"/>
            <a:r>
              <a:t>Risk appetite and tolerance</a:t>
            </a:r>
          </a:p>
          <a:p>
            <a:pPr lvl="1"/>
            <a:r>
              <a:t>Assurance and accountability mechanisms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Using the Framework as a Leadership Tool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Board and committee discussions</a:t>
            </a:r>
          </a:p>
          <a:p>
            <a:pPr lvl="1"/>
            <a:r>
              <a:t>Strategic planning and scenario exploration</a:t>
            </a:r>
          </a:p>
          <a:p>
            <a:pPr lvl="1"/>
            <a:r>
              <a:t>Assurance and risk review</a:t>
            </a:r>
          </a:p>
          <a:p>
            <a:pPr lvl="1"/>
            <a:r>
              <a:t>Cross-departmental alignment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Questions for Leaders to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Where is AI already influencing decisions?</a:t>
            </a:r>
          </a:p>
          <a:p>
            <a:pPr lvl="1"/>
            <a:r>
              <a:t>Who remains accountable when AI is involved?</a:t>
            </a:r>
          </a:p>
          <a:p>
            <a:pPr lvl="1"/>
            <a:r>
              <a:t>How are ethical and equity considerations addressed?</a:t>
            </a:r>
          </a:p>
          <a:p>
            <a:pPr lvl="1"/>
            <a:r>
              <a:t>What evidence supports responsible use?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Reuse and Adaptation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deck is designed to support leadership discussion</a:t>
            </a:r>
          </a:p>
          <a:p>
            <a:pPr lvl="1"/>
            <a:r>
              <a:t>You are encouraged to adapt it for local contexts</a:t>
            </a:r>
          </a:p>
          <a:p>
            <a:pPr lvl="1"/>
            <a:r>
              <a:t>Please attribute CloudPedagogy and the AI Capability Framework</a:t>
            </a:r>
          </a:p>
          <a:p>
            <a:pPr lvl="1"/>
            <a:r>
              <a:t>Licensed under Creative Commons CC BY-NC-SA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